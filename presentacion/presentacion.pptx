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3932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Master of the Harmonica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096000"/>
            <a:ext cx="93132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100" b="0">
                <a:solidFill>
                  <a:srgbClr val="C9D9F0"/>
                </a:solidFill>
                <a:latin typeface="Calibri"/>
              </a:rPr>
              <a:t>Clasificación de tonalidad en 24 clases con CNN 1D sobre audio crudo</a:t>
            </a:r>
          </a:p>
          <a:p>
            <a:pPr algn="ctr">
              <a:lnSpc>
                <a:spcPct val="118000"/>
              </a:lnSpc>
            </a:pPr>
            <a:r>
              <a:rPr sz="2100" b="0">
                <a:solidFill>
                  <a:srgbClr val="C9D9F0"/>
                </a:solidFill>
                <a:latin typeface="Calibri"/>
              </a:rPr>
              <a:t>y derivación determinística de armónica blues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6600" y="4284000"/>
            <a:ext cx="2880000" cy="31750"/>
          </a:xfrm>
          <a:prstGeom prst="rect">
            <a:avLst/>
          </a:prstGeom>
          <a:solidFill>
            <a:srgbClr val="7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4716000"/>
            <a:ext cx="93132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TP Final  ·  Redes Neuronales y Deep Learning</a:t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Maestría en Inteligencia Artificial  ·  Universidad de Palermo</a:t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V. M. Danguise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Qué armónica agarro del estuche para tocar sobre este 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548000"/>
            <a:ext cx="57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La armónica diatónica está construida en una tonalidad fija.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Para improvisar hay que resolver dos cosas: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   1. ¿En qué tonalidad está la canción?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   2. ¿Qué armónica corresponde?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En blues NO se usa la armónica de la canción.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Se toca en segunda posición (cross-harp): la armónica está
    una cuarta justa por encima de la tónica.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Motivo: así los bendings caen sobre las notas expresivas
    de la escala de blues.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0" y="1980000"/>
            <a:ext cx="4752000" cy="295199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6000" y="2268000"/>
            <a:ext cx="4320000" cy="2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Objetivo del sistema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audio.mp3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[ CNN 1D ]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"G maj"  (conf. 0.92)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[ regla +5 semitonos ]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3864"/>
                </a:solidFill>
                <a:latin typeface="Calibri"/>
              </a:rPr>
              <a:t>ARMÓNICA EN C  +  riff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Qué aprende la red y qué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Separar lo perceptual de lo determinístico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655999"/>
            <a:ext cx="5220000" cy="194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LO QUE APRENDE LA RED</a:t>
            </a:r>
          </a:p>
          <a:p>
            <a:pPr algn="ctr"/>
            <a:r>
              <a:rPr sz="4000" b="1">
                <a:solidFill>
                  <a:srgbClr val="2E5C9A"/>
                </a:solidFill>
                <a:latin typeface="Calibri"/>
              </a:rPr>
              <a:t>Tonalidad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24 clases: 12 tónicas × {mayor, menor}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1655999"/>
            <a:ext cx="5220000" cy="194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LO QUE NO APRENDE</a:t>
            </a:r>
          </a:p>
          <a:p>
            <a:pPr algn="ctr"/>
            <a:r>
              <a:rPr sz="4000" b="1">
                <a:solidFill>
                  <a:srgbClr val="1E7A46"/>
                </a:solidFill>
                <a:latin typeface="Calibri"/>
              </a:rPr>
              <a:t>(tónica + 5) % 12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La armónica sale por regla musical exacta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960000"/>
            <a:ext cx="108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1F3864"/>
                </a:solidFill>
                <a:latin typeface="Calibri"/>
              </a:rPr>
              <a:t>•  Entra: WAV/MP3 → mono → 16 kHz → ventanas de 4 s (64.000 muestras) de forma de onda CRUDA.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0">
                <a:solidFill>
                  <a:srgbClr val="444444"/>
                </a:solidFill>
                <a:latin typeface="Calibri"/>
              </a:rPr>
              <a:t>•  No entra MIDI ni cromagrama: se quiere ver si la CNN aprende la estructura tonal desde la señal.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1F3864"/>
                </a:solidFill>
                <a:latin typeface="Calibri"/>
              </a:rPr>
              <a:t>•  Sale: 24 logits, con confianza y Top-3. La armónica se deriva, no se predice.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0">
                <a:solidFill>
                  <a:srgbClr val="444444"/>
                </a:solidFill>
                <a:latin typeface="Calibri"/>
              </a:rPr>
              <a:t>•  Implementar la regla como capa de red sería agregarle error a algo que ya es exacto.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KeyCNN1D — 80.968 parámetros, entrenada desde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00" y="1584000"/>
          <a:ext cx="64799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3384000"/>
                <a:gridCol w="1224000"/>
                <a:gridCol w="1007999"/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Operación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Canales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Kernel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b1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Conv1d (stride 8) + BN + ReLU + Pool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 → 16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Conv1d + BN + ReLU + Pool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16 → 32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b3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Conv1d + BN + ReLU + Pool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32 → 64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b4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Conv1d + BN + ReLU + Pool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64 → 128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head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AdaptiveAvgPool → 128 → 96 → 24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16000" y="1584000"/>
            <a:ext cx="4248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•  Kernel inicial ancho (128 ≈ 8 ms)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444444"/>
                </a:solidFill>
                <a:latin typeface="Calibri"/>
              </a:rPr>
              <a:t>•  banco de filtros aprendido, no impuesto por FFT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•  AdaptiveAvgPool1d(1)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444444"/>
                </a:solidFill>
                <a:latin typeface="Calibri"/>
              </a:rPr>
              <a:t>•  la tonalidad es propiedad global del fragmento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•  Baseline obligatoria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444444"/>
                </a:solidFill>
                <a:latin typeface="Calibri"/>
              </a:rPr>
              <a:t>•  cromagrama CQT + perfiles Krumhansl-Schmuckler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•  Datos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444444"/>
                </a:solidFill>
                <a:latin typeface="Calibri"/>
              </a:rPr>
              <a:t>•  progresiones I-IV-V-I / i-iv-V-i sintéticas
    1920 train / 480 val / 480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Test sintético, 480 ejemplos, 24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0000" y="1944000"/>
            <a:ext cx="3420000" cy="216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ACCURACY</a:t>
            </a:r>
          </a:p>
          <a:p>
            <a:pPr algn="ctr"/>
            <a:r>
              <a:rPr sz="4000" b="1">
                <a:solidFill>
                  <a:srgbClr val="1E7A46"/>
                </a:solidFill>
                <a:latin typeface="Calibri"/>
              </a:rPr>
              <a:t>100 %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480 / 480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3999" y="1944000"/>
            <a:ext cx="3420000" cy="216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SCORE MIREX</a:t>
            </a:r>
          </a:p>
          <a:p>
            <a:pPr algn="ctr"/>
            <a:r>
              <a:rPr sz="4000" b="1">
                <a:solidFill>
                  <a:srgbClr val="1E7A46"/>
                </a:solidFill>
                <a:latin typeface="Calibri"/>
              </a:rPr>
              <a:t>1,000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sin un solo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4464000"/>
            <a:ext cx="100332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100" b="0">
                <a:solidFill>
                  <a:srgbClr val="1F3864"/>
                </a:solidFill>
                <a:latin typeface="Calibri"/>
              </a:rPr>
              <a:t>Matriz de confusión 24×24 perfectamente diagonal.</a:t>
            </a:r>
          </a:p>
          <a:p>
            <a:pPr algn="ctr">
              <a:lnSpc>
                <a:spcPct val="130000"/>
              </a:lnSpc>
            </a:pPr>
            <a:r>
              <a:rPr sz="2100" b="0">
                <a:solidFill>
                  <a:srgbClr val="1F3864"/>
                </a:solidFill>
                <a:latin typeface="Calibri"/>
              </a:rPr>
              <a:t>Convergencia a 99,6 % de validación en la PRIMERA época.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5688000"/>
            <a:ext cx="100332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>
                <a:solidFill>
                  <a:srgbClr val="C0392B"/>
                </a:solidFill>
                <a:latin typeface="Calibri"/>
              </a:rPr>
              <a:t>¿Terminamos?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El problema del 100 %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Para eso servía la línea de base que pidió la cátedra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0000" y="1728000"/>
          <a:ext cx="82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620000"/>
                <a:gridCol w="1620000"/>
              </a:tblGrid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MIREX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  <a:latin typeface="Calibri"/>
                        </a:rPr>
                        <a:t>CNN 1D (80.968 parámetros, 12 épocas)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A46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A46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44444"/>
                          </a:solidFill>
                          <a:latin typeface="Calibri"/>
                        </a:rPr>
                        <a:t>Cromagrama + Krumhansl-Schmuckler (0 parámetros)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0000" y="3600000"/>
            <a:ext cx="103932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C0392B"/>
                </a:solidFill>
                <a:latin typeface="Calibri"/>
              </a:rPr>
              <a:t>Un método de los años 80, sin parámetros entrenables, empata con la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4716000"/>
            <a:ext cx="9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•  El benchmark sintético está saturado: no discrimina entre métodos.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•  No hay evidencia de que la red haya aportado valor.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Si el test no ordena métodos, hay que buscar una evaluación que sí lo haga.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Evaluación fuera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11 escenarios · se perturba una dimensión por vez · la etiqueta no cambia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robuste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236" y="1404000"/>
            <a:ext cx="8168727" cy="374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364000"/>
            <a:ext cx="107532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3864"/>
                </a:solidFill>
                <a:latin typeface="Calibri"/>
              </a:rPr>
              <a:t>La CNN gana donde importa el contexto (progresión nueva: 92,5 % vs 50 %)…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3864"/>
                </a:solidFill>
                <a:latin typeface="Calibri"/>
              </a:rPr>
              <a:t>…y colapsa a 0,042 — el nivel del azar — ante un cambio de octava, donde la baseline queda en 1,000.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Los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Accuracy en 24 clases · azar = 1/24 = 0,042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0000" y="1584000"/>
          <a:ext cx="9000000" cy="41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980000"/>
                <a:gridCol w="1980000"/>
              </a:tblGrid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CNN 1D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 K-S</a:t>
                      </a:r>
                    </a:p>
                  </a:txBody>
                  <a:tcPr anchor="ctr" marL="90000" marT="36000" marB="36000">
                    <a:solidFill>
                      <a:srgbClr val="1F3864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Test sintético (en distribución)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Progresión nueva I-V-vi-IV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6"/>
                          </a:solidFill>
                          <a:latin typeface="Calibri"/>
                        </a:rPr>
                        <a:t>0,925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Progresión nueva ii-V-I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6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Timbre brillante (6 armónicos)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0,908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Ruido fuerte (SNR 0 dB)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0,808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Afinación 432 Hz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0,917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0,958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TRANSPOSICIÓN DE 1 OCTAVA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0,042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6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5 audios generados (tonalidad conocida)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Calibri"/>
                        </a:rPr>
                        <a:t>0,800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6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90000" marT="36000" marB="36000">
                    <a:solidFill>
                      <a:srgbClr val="F4F7FB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CANCIONES REALES: GiantSteps (20)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0,100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46"/>
                          </a:solidFill>
                          <a:latin typeface="Calibri"/>
                        </a:rPr>
                        <a:t>0,450</a:t>
                      </a:r>
                    </a:p>
                  </a:txBody>
                  <a:tcPr anchor="ctr" marL="900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20000" y="5868000"/>
            <a:ext cx="900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>
                <a:solidFill>
                  <a:srgbClr val="444444"/>
                </a:solidFill>
                <a:latin typeface="Calibri"/>
              </a:rPr>
              <a:t>Una canción en C mayor sigue en C mayor una octava más arriba. La etiqueta no cambió.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Canciones reales: GiantSteps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20 temas anotados al azar (semilla 7) · solo evaluación · corrida en Colab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1655999"/>
            <a:ext cx="4680000" cy="201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CNN 1D</a:t>
            </a:r>
          </a:p>
          <a:p>
            <a:pPr algn="ctr"/>
            <a:r>
              <a:rPr sz="4000" b="1">
                <a:solidFill>
                  <a:srgbClr val="C0392B"/>
                </a:solidFill>
                <a:latin typeface="Calibri"/>
              </a:rPr>
              <a:t>2 / 20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accuracy 0,10  ·  MIREX 0,13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3999" y="1655999"/>
            <a:ext cx="4680000" cy="20159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BASELINE K-S</a:t>
            </a:r>
          </a:p>
          <a:p>
            <a:pPr algn="ctr"/>
            <a:r>
              <a:rPr sz="4000" b="1">
                <a:solidFill>
                  <a:srgbClr val="1E7A46"/>
                </a:solidFill>
                <a:latin typeface="Calibri"/>
              </a:rPr>
              <a:t>9 / 20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accuracy 0,45  ·  MIREX 0,59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96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La red responde "A maj" en 11 de los 20 temas, sin importar la canción.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Usa solo 4 de las 24 clases. Sus 2 aciertos son temas que estaban en A maj.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Es el mismo colapso a pocos atractores que aparece al transponer una octava.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K-S acierta la tónica en 14 de 20; casi todos sus errores son de quinta, relativa o modo.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¿Qué sigue la red: la tonalidad o la frecuencia absoluta?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diagnostico_oct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600" y="1368000"/>
            <a:ext cx="7200000" cy="3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184000"/>
            <a:ext cx="107532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C0392B"/>
                </a:solidFill>
                <a:latin typeface="Calibri"/>
              </a:rPr>
              <a:t>Al desplazar el audio UN SEMITONO:</a:t>
            </a:r>
          </a:p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C0392B"/>
                </a:solidFill>
                <a:latin typeface="Calibri"/>
              </a:rPr>
              <a:t>predice la etiqueta transpuesta el 91,7 %  ·  acierta la correcta el 0 %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La causa: shortcut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No fue la arquitectura. Fue el conjunto de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55999"/>
            <a:ext cx="108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1">
                <a:solidFill>
                  <a:srgbClr val="1F3864"/>
                </a:solidFill>
                <a:latin typeface="Calibri"/>
              </a:rPr>
              <a:t>•  El generador ubicaba cada tonalidad SIEMPRE en la misma octava.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0">
                <a:solidFill>
                  <a:srgbClr val="444444"/>
                </a:solidFill>
                <a:latin typeface="Calibri"/>
              </a:rPr>
              <a:t>•  Dentro del dataset, "tonalidad" y "banda de frecuencias absolutas" eran predictores equivalentes.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1">
                <a:solidFill>
                  <a:srgbClr val="1F3864"/>
                </a:solidFill>
                <a:latin typeface="Calibri"/>
              </a:rPr>
              <a:t>•  Ante dos soluciones equivalentes, el gradiente tomó la más fácil: detectar altura absoluta.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0">
                <a:solidFill>
                  <a:srgbClr val="444444"/>
                </a:solidFill>
                <a:latin typeface="Calibri"/>
              </a:rPr>
              <a:t>•  Nunca necesitó construir relaciones intervalares, que es lo que define una tonalidad.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1">
                <a:solidFill>
                  <a:srgbClr val="1F3864"/>
                </a:solidFill>
                <a:latin typeface="Calibri"/>
              </a:rPr>
              <a:t>•  El test, generado con el mismo sesgo, no podía detectarlo.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0">
                <a:solidFill>
                  <a:srgbClr val="444444"/>
                </a:solidFill>
                <a:latin typeface="Calibri"/>
              </a:rPr>
              <a:t>•  Una CNN 1D sobre onda cruda es equivariante en tiempo, pero NO en frecuencia.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750" b="0">
                <a:solidFill>
                  <a:srgbClr val="444444"/>
                </a:solidFill>
                <a:latin typeface="Calibri"/>
              </a:rPr>
              <a:t>•  El cromagrama sí es invariante a la octava por construcción: su sesgo inductivo es el correcto.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256000"/>
            <a:ext cx="103932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C0392B"/>
                </a:solidFill>
                <a:latin typeface="Calibri"/>
              </a:rPr>
              <a:t>La red aprendió a detectar altura absoluta, no tonalidad.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Qué me llevo de este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20000"/>
            <a:ext cx="108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Con este diseño, la red NO superó a la línea de base. Esa es la respuesta honesta.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Una métrica de test perfecta no es evidencia de aprendizaje: fue el síntoma del problema.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La línea de base no es un trámite del informe: fue el instrumento de diagnóstico.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Sin ese empate en 100 %, el trabajo habría reportado un éxito inexistente.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Un test generado por el mismo generador que el train no mide generalización.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Mide consistencia del generador. Detectar atajos exige evaluar fuera de distribución.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•  El sesgo inductivo era analizable antes de entrenar.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 El fallo estaba predicho por la arquitectura: faltaba invariancia a transposición.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/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Cómo se arregla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990000"/>
            <a:ext cx="114012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E5C9A"/>
                </a:solidFill>
                <a:latin typeface="Calibri"/>
              </a:rPr>
              <a:t>Las correcciones salen directamente del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728000"/>
            <a:ext cx="5472000" cy="18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1 · Aumentación por pitch-shift</a:t>
            </a:r>
          </a:p>
          <a:p>
            <a:pPr algn="ctr"/>
            <a:r>
              <a:rPr sz="4000" b="1">
                <a:solidFill>
                  <a:srgbClr val="2E5C9A"/>
                </a:solidFill>
                <a:latin typeface="Calibri"/>
              </a:rPr>
              <a:t>Impacto alto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Transponer actualizando la etiqueta rompe la correlación espuria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1728000"/>
            <a:ext cx="5472000" cy="18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2 · Randomizar la octava</a:t>
            </a:r>
          </a:p>
          <a:p>
            <a:pPr algn="ctr"/>
            <a:r>
              <a:rPr sz="4000" b="1">
                <a:solidFill>
                  <a:srgbClr val="1E7A46"/>
                </a:solidFill>
                <a:latin typeface="Calibri"/>
              </a:rPr>
              <a:t>2 líneas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Elimina el sesgo en el origen, dentro del generador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3888000"/>
            <a:ext cx="5472000" cy="18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3 · CQT / log-mel + CNN 2D</a:t>
            </a:r>
          </a:p>
          <a:p>
            <a:pPr algn="ctr"/>
            <a:r>
              <a:rPr sz="4000" b="1">
                <a:solidFill>
                  <a:srgbClr val="2E5C9A"/>
                </a:solidFill>
                <a:latin typeface="Calibri"/>
              </a:rPr>
              <a:t>Por arquitectura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Sobre CQT la transposición es traslación: la conv2D ya es equivariante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3888000"/>
            <a:ext cx="5472000" cy="18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5999"/>
          <a:lstStyle/>
          <a:p>
            <a:pPr algn="ctr"/>
            <a:r>
              <a:rPr sz="1500">
                <a:solidFill>
                  <a:srgbClr val="444444"/>
                </a:solidFill>
                <a:latin typeface="Calibri"/>
              </a:rPr>
              <a:t>4 · GiantSteps completo</a:t>
            </a:r>
          </a:p>
          <a:p>
            <a:pPr algn="ctr"/>
            <a:r>
              <a:rPr sz="4000" b="1">
                <a:solidFill>
                  <a:srgbClr val="2E5C9A"/>
                </a:solidFill>
                <a:latin typeface="Calibri"/>
              </a:rPr>
              <a:t>20 → 604 temas</a:t>
            </a:r>
          </a:p>
          <a:p>
            <a:pPr algn="ctr"/>
            <a:r>
              <a:rPr sz="1250">
                <a:solidFill>
                  <a:srgbClr val="444444"/>
                </a:solidFill>
                <a:latin typeface="Calibri"/>
              </a:rPr>
              <a:t>Medición sólida sobre música real anotada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57200" y="6354001"/>
            <a:ext cx="64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015999"/>
            <a:ext cx="103932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Master of the Harmonica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311999"/>
            <a:ext cx="100332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C9D9F0"/>
                </a:solidFill>
                <a:latin typeface="Calibri"/>
              </a:rPr>
              <a:t>El sistema funciona de punta a punta.</a:t>
            </a:r>
          </a:p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C9D9F0"/>
                </a:solidFill>
                <a:latin typeface="Calibri"/>
              </a:rPr>
              <a:t>El aporte del trabajo no es el 100 %: es haber mostrado por qué ese 100 % no alcanzaba.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5112000"/>
            <a:ext cx="100332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github.com/vmdanguise/master-of-the-harmonica</a:t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Calibri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