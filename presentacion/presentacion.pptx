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57200" y="6354001"/>
            <a:ext cx="648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444444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0000" y="1872000"/>
            <a:ext cx="10393200" cy="10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5800" b="1">
                <a:solidFill>
                  <a:srgbClr val="FFFFFF"/>
                </a:solidFill>
                <a:latin typeface="Calibri"/>
              </a:rPr>
              <a:t>Master of the Harmonica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0000" y="3096000"/>
            <a:ext cx="9313200" cy="93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100" b="0">
                <a:solidFill>
                  <a:srgbClr val="C9D9F0"/>
                </a:solidFill>
                <a:latin typeface="Calibri"/>
              </a:rPr>
              <a:t>Clasificación de tonalidad en 24 clases con CNN 1D sobre audio crudo</a:t>
            </a:r>
          </a:p>
          <a:p>
            <a:pPr algn="ctr">
              <a:lnSpc>
                <a:spcPct val="118000"/>
              </a:lnSpc>
            </a:pPr>
            <a:r>
              <a:rPr sz="2100" b="0">
                <a:solidFill>
                  <a:srgbClr val="C9D9F0"/>
                </a:solidFill>
                <a:latin typeface="Calibri"/>
              </a:rPr>
              <a:t>y derivación determinística de armónica blues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656600" y="4284000"/>
            <a:ext cx="2880000" cy="31750"/>
          </a:xfrm>
          <a:prstGeom prst="rect">
            <a:avLst/>
          </a:prstGeom>
          <a:solidFill>
            <a:srgbClr val="7F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0000" y="4716000"/>
            <a:ext cx="9313200" cy="1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700" b="0">
                <a:solidFill>
                  <a:srgbClr val="FFFFFF"/>
                </a:solidFill>
                <a:latin typeface="Calibri"/>
              </a:rPr>
              <a:t>TP Final  ·  Redes Neuronales y Deep Learning</a:t>
            </a:r>
          </a:p>
          <a:p>
            <a:pPr algn="ctr">
              <a:lnSpc>
                <a:spcPct val="140000"/>
              </a:lnSpc>
            </a:pPr>
            <a:r>
              <a:rPr sz="1700" b="0">
                <a:solidFill>
                  <a:srgbClr val="FFFFFF"/>
                </a:solidFill>
                <a:latin typeface="Calibri"/>
              </a:rPr>
              <a:t>Maestría en Inteligencia Artificial  ·  Universidad de Palermo</a:t>
            </a:r>
          </a:p>
          <a:p>
            <a:pPr algn="ctr">
              <a:lnSpc>
                <a:spcPct val="140000"/>
              </a:lnSpc>
            </a:pPr>
            <a:r>
              <a:rPr sz="17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1700" b="0">
                <a:solidFill>
                  <a:srgbClr val="FFFFFF"/>
                </a:solidFill>
                <a:latin typeface="Calibri"/>
              </a:rPr>
              <a:t>V. M. Danguise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96000"/>
          <a:lstStyle/>
          <a:p>
            <a:pPr algn="l"/>
            <a:r>
              <a:rPr sz="2900" b="1">
                <a:solidFill>
                  <a:srgbClr val="FFFFFF"/>
                </a:solidFill>
                <a:latin typeface="Calibri"/>
              </a:rP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6000" y="990000"/>
            <a:ext cx="11401200" cy="39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2E5C9A"/>
                </a:solidFill>
                <a:latin typeface="Calibri"/>
              </a:rPr>
              <a:t>Qué armónica agarro del estuche para tocar sobre este 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57200" y="6354001"/>
            <a:ext cx="648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444444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1548000"/>
            <a:ext cx="576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 b="1">
                <a:solidFill>
                  <a:srgbClr val="1F3864"/>
                </a:solidFill>
                <a:latin typeface="Calibri"/>
              </a:rPr>
              <a:t>•  La armónica diatónica está construida en una tonalidad fija.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 b="0">
                <a:solidFill>
                  <a:srgbClr val="444444"/>
                </a:solidFill>
                <a:latin typeface="Calibri"/>
              </a:rPr>
              <a:t>•  Para improvisar hay que resolver dos cosas: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 b="0">
                <a:solidFill>
                  <a:srgbClr val="444444"/>
                </a:solidFill>
                <a:latin typeface="Calibri"/>
              </a:rPr>
              <a:t>•     1. ¿En qué tonalidad está la canción?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 b="0">
                <a:solidFill>
                  <a:srgbClr val="444444"/>
                </a:solidFill>
                <a:latin typeface="Calibri"/>
              </a:rPr>
              <a:t>•     2. ¿Qué armónica corresponde?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 b="1">
                <a:solidFill>
                  <a:srgbClr val="1F3864"/>
                </a:solidFill>
                <a:latin typeface="Calibri"/>
              </a:rPr>
              <a:t>•  En blues NO se usa la armónica de la canción.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 b="0">
                <a:solidFill>
                  <a:srgbClr val="444444"/>
                </a:solidFill>
                <a:latin typeface="Calibri"/>
              </a:rPr>
              <a:t>•  Se toca en segunda posición (cross-harp): la armónica está
    una cuarta justa por encima de la tónica.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 b="0">
                <a:solidFill>
                  <a:srgbClr val="444444"/>
                </a:solidFill>
                <a:latin typeface="Calibri"/>
              </a:rPr>
              <a:t>•  Motivo: así los bendings caen sobre las notas expresivas
    de la escala de blues.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40000" y="1980000"/>
            <a:ext cx="4752000" cy="295199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5C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56000" y="2268000"/>
            <a:ext cx="4320000" cy="2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3864"/>
                </a:solidFill>
                <a:latin typeface="Calibri"/>
              </a:rPr>
              <a:t>Objetivo del sistema</a:t>
            </a:r>
          </a:p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3864"/>
                </a:solidFill>
                <a:latin typeface="Calibri"/>
              </a:rPr>
              <a:t/>
            </a:r>
          </a:p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3864"/>
                </a:solidFill>
                <a:latin typeface="Calibri"/>
              </a:rPr>
              <a:t>audio.mp3</a:t>
            </a:r>
          </a:p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3864"/>
                </a:solidFill>
                <a:latin typeface="Calibri"/>
              </a:rPr>
              <a:t>↓</a:t>
            </a:r>
          </a:p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3864"/>
                </a:solidFill>
                <a:latin typeface="Calibri"/>
              </a:rPr>
              <a:t>[ CNN 1D ]</a:t>
            </a:r>
          </a:p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3864"/>
                </a:solidFill>
                <a:latin typeface="Calibri"/>
              </a:rPr>
              <a:t>↓</a:t>
            </a:r>
          </a:p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3864"/>
                </a:solidFill>
                <a:latin typeface="Calibri"/>
              </a:rPr>
              <a:t>"G maj"  (conf. 0.92)</a:t>
            </a:r>
          </a:p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3864"/>
                </a:solidFill>
                <a:latin typeface="Calibri"/>
              </a:rPr>
              <a:t>↓</a:t>
            </a:r>
          </a:p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3864"/>
                </a:solidFill>
                <a:latin typeface="Calibri"/>
              </a:rPr>
              <a:t>[ regla +5 semitonos ]</a:t>
            </a:r>
          </a:p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3864"/>
                </a:solidFill>
                <a:latin typeface="Calibri"/>
              </a:rPr>
              <a:t>↓</a:t>
            </a:r>
          </a:p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3864"/>
                </a:solidFill>
                <a:latin typeface="Calibri"/>
              </a:rPr>
              <a:t>ARMÓNICA EN C  +  riff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96000"/>
          <a:lstStyle/>
          <a:p>
            <a:pPr algn="l"/>
            <a:r>
              <a:rPr sz="2900" b="1">
                <a:solidFill>
                  <a:srgbClr val="FFFFFF"/>
                </a:solidFill>
                <a:latin typeface="Calibri"/>
              </a:rPr>
              <a:t>Qué aprende la red y qué 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6000" y="990000"/>
            <a:ext cx="11401200" cy="39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2E5C9A"/>
                </a:solidFill>
                <a:latin typeface="Calibri"/>
              </a:rPr>
              <a:t>Separar lo perceptual de lo determinístico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57200" y="6354001"/>
            <a:ext cx="648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44444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8000" y="1655999"/>
            <a:ext cx="5220000" cy="1944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5999"/>
          <a:lstStyle/>
          <a:p>
            <a:pPr algn="ctr"/>
            <a:r>
              <a:rPr sz="1500">
                <a:solidFill>
                  <a:srgbClr val="444444"/>
                </a:solidFill>
                <a:latin typeface="Calibri"/>
              </a:rPr>
              <a:t>LO QUE APRENDE LA RED</a:t>
            </a:r>
          </a:p>
          <a:p>
            <a:pPr algn="ctr"/>
            <a:r>
              <a:rPr sz="4000" b="1">
                <a:solidFill>
                  <a:srgbClr val="2E5C9A"/>
                </a:solidFill>
                <a:latin typeface="Calibri"/>
              </a:rPr>
              <a:t>Tonalidad</a:t>
            </a:r>
          </a:p>
          <a:p>
            <a:pPr algn="ctr"/>
            <a:r>
              <a:rPr sz="1250">
                <a:solidFill>
                  <a:srgbClr val="444444"/>
                </a:solidFill>
                <a:latin typeface="Calibri"/>
              </a:rPr>
              <a:t>24 clases: 12 tónicas × {mayor, menor}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6000" y="1655999"/>
            <a:ext cx="5220000" cy="1944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5999"/>
          <a:lstStyle/>
          <a:p>
            <a:pPr algn="ctr"/>
            <a:r>
              <a:rPr sz="1500">
                <a:solidFill>
                  <a:srgbClr val="444444"/>
                </a:solidFill>
                <a:latin typeface="Calibri"/>
              </a:rPr>
              <a:t>LO QUE NO APRENDE</a:t>
            </a:r>
          </a:p>
          <a:p>
            <a:pPr algn="ctr"/>
            <a:r>
              <a:rPr sz="4000" b="1">
                <a:solidFill>
                  <a:srgbClr val="1E7A46"/>
                </a:solidFill>
                <a:latin typeface="Calibri"/>
              </a:rPr>
              <a:t>(tónica + 5) % 12</a:t>
            </a:r>
          </a:p>
          <a:p>
            <a:pPr algn="ctr"/>
            <a:r>
              <a:rPr sz="1250">
                <a:solidFill>
                  <a:srgbClr val="444444"/>
                </a:solidFill>
                <a:latin typeface="Calibri"/>
              </a:rPr>
              <a:t>La armónica sale por regla musical exacta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3960000"/>
            <a:ext cx="10800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650" b="1">
                <a:solidFill>
                  <a:srgbClr val="1F3864"/>
                </a:solidFill>
                <a:latin typeface="Calibri"/>
              </a:rPr>
              <a:t>•  Entra: WAV/MP3 → mono → 16 kHz → ventanas de 4 s (64.000 muestras) de forma de onda CRUDA.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650" b="0">
                <a:solidFill>
                  <a:srgbClr val="444444"/>
                </a:solidFill>
                <a:latin typeface="Calibri"/>
              </a:rPr>
              <a:t>•  No entra MIDI ni cromagrama: se quiere ver si la CNN aprende la estructura tonal desde la señal.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650" b="1">
                <a:solidFill>
                  <a:srgbClr val="1F3864"/>
                </a:solidFill>
                <a:latin typeface="Calibri"/>
              </a:rPr>
              <a:t>•  Sale: 24 logits, con confianza y Top-3. La armónica se deriva, no se predice.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650" b="0">
                <a:solidFill>
                  <a:srgbClr val="444444"/>
                </a:solidFill>
                <a:latin typeface="Calibri"/>
              </a:rPr>
              <a:t>•  Implementar la regla como capa de red sería agregarle error a algo que ya es exacto.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96000"/>
          <a:lstStyle/>
          <a:p>
            <a:pPr algn="l"/>
            <a:r>
              <a:rPr sz="2900" b="1">
                <a:solidFill>
                  <a:srgbClr val="FFFFFF"/>
                </a:solidFill>
                <a:latin typeface="Calibri"/>
              </a:rPr>
              <a:t>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6000" y="990000"/>
            <a:ext cx="11401200" cy="39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2E5C9A"/>
                </a:solidFill>
                <a:latin typeface="Calibri"/>
              </a:rPr>
              <a:t>KeyCNN1D — 80.968 parámetros, entrenada desde cero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57200" y="6354001"/>
            <a:ext cx="648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444444"/>
                </a:solidFill>
                <a:latin typeface="Calibri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6000" y="1584000"/>
          <a:ext cx="6479999" cy="3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4000"/>
                <a:gridCol w="3384000"/>
                <a:gridCol w="1224000"/>
                <a:gridCol w="1007999"/>
              </a:tblGrid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90000" marT="36000" marB="36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Operación</a:t>
                      </a:r>
                    </a:p>
                  </a:txBody>
                  <a:tcPr anchor="ctr" marL="90000" marT="36000" marB="36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Canales</a:t>
                      </a:r>
                    </a:p>
                  </a:txBody>
                  <a:tcPr anchor="ctr" marL="90000" marT="36000" marB="36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Kernel</a:t>
                      </a:r>
                    </a:p>
                  </a:txBody>
                  <a:tcPr anchor="ctr" marL="90000" marT="36000" marB="36000">
                    <a:solidFill>
                      <a:srgbClr val="1F3864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44444"/>
                          </a:solidFill>
                          <a:latin typeface="Calibri"/>
                        </a:rPr>
                        <a:t>b1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444444"/>
                          </a:solidFill>
                          <a:latin typeface="Calibri"/>
                        </a:rPr>
                        <a:t>Conv1d (stride 8) + BN + ReLU + Pool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444444"/>
                          </a:solidFill>
                          <a:latin typeface="Calibri"/>
                        </a:rPr>
                        <a:t>1 → 16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444444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44444"/>
                          </a:solidFill>
                          <a:latin typeface="Calibri"/>
                        </a:rPr>
                        <a:t>b2</a:t>
                      </a:r>
                    </a:p>
                  </a:txBody>
                  <a:tcPr anchor="ctr" marL="90000" marT="36000" marB="36000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444444"/>
                          </a:solidFill>
                          <a:latin typeface="Calibri"/>
                        </a:rPr>
                        <a:t>Conv1d + BN + ReLU + Pool</a:t>
                      </a:r>
                    </a:p>
                  </a:txBody>
                  <a:tcPr anchor="ctr" marL="90000" marT="36000" marB="36000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444444"/>
                          </a:solidFill>
                          <a:latin typeface="Calibri"/>
                        </a:rPr>
                        <a:t>16 → 32</a:t>
                      </a:r>
                    </a:p>
                  </a:txBody>
                  <a:tcPr anchor="ctr" marL="90000" marT="36000" marB="36000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444444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90000" marT="36000" marB="36000">
                    <a:solidFill>
                      <a:srgbClr val="F4F7FB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44444"/>
                          </a:solidFill>
                          <a:latin typeface="Calibri"/>
                        </a:rPr>
                        <a:t>b3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444444"/>
                          </a:solidFill>
                          <a:latin typeface="Calibri"/>
                        </a:rPr>
                        <a:t>Conv1d + BN + ReLU + Pool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444444"/>
                          </a:solidFill>
                          <a:latin typeface="Calibri"/>
                        </a:rPr>
                        <a:t>32 → 64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44444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44444"/>
                          </a:solidFill>
                          <a:latin typeface="Calibri"/>
                        </a:rPr>
                        <a:t>b4</a:t>
                      </a:r>
                    </a:p>
                  </a:txBody>
                  <a:tcPr anchor="ctr" marL="90000" marT="36000" marB="36000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444444"/>
                          </a:solidFill>
                          <a:latin typeface="Calibri"/>
                        </a:rPr>
                        <a:t>Conv1d + BN + ReLU + Pool</a:t>
                      </a:r>
                    </a:p>
                  </a:txBody>
                  <a:tcPr anchor="ctr" marL="90000" marT="36000" marB="36000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444444"/>
                          </a:solidFill>
                          <a:latin typeface="Calibri"/>
                        </a:rPr>
                        <a:t>64 → 128</a:t>
                      </a:r>
                    </a:p>
                  </a:txBody>
                  <a:tcPr anchor="ctr" marL="90000" marT="36000" marB="36000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44444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0000" marT="36000" marB="36000">
                    <a:solidFill>
                      <a:srgbClr val="F4F7FB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44444"/>
                          </a:solidFill>
                          <a:latin typeface="Calibri"/>
                        </a:rPr>
                        <a:t>head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444444"/>
                          </a:solidFill>
                          <a:latin typeface="Calibri"/>
                        </a:rPr>
                        <a:t>AdaptiveAvgPool → 128 → 96 → 24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44444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44444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16000" y="1584000"/>
            <a:ext cx="4248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50" b="1">
                <a:solidFill>
                  <a:srgbClr val="1F3864"/>
                </a:solidFill>
                <a:latin typeface="Calibri"/>
              </a:rPr>
              <a:t>•  Kernel inicial ancho (128 ≈ 8 ms)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50" b="0">
                <a:solidFill>
                  <a:srgbClr val="444444"/>
                </a:solidFill>
                <a:latin typeface="Calibri"/>
              </a:rPr>
              <a:t>•  banco de filtros aprendido, no impuesto por FFT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50" b="1">
                <a:solidFill>
                  <a:srgbClr val="1F3864"/>
                </a:solidFill>
                <a:latin typeface="Calibri"/>
              </a:rPr>
              <a:t>•  AdaptiveAvgPool1d(1)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50" b="0">
                <a:solidFill>
                  <a:srgbClr val="444444"/>
                </a:solidFill>
                <a:latin typeface="Calibri"/>
              </a:rPr>
              <a:t>•  la tonalidad es propiedad global del fragmento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50" b="1">
                <a:solidFill>
                  <a:srgbClr val="1F3864"/>
                </a:solidFill>
                <a:latin typeface="Calibri"/>
              </a:rPr>
              <a:t>•  Baseline obligatoria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50" b="0">
                <a:solidFill>
                  <a:srgbClr val="444444"/>
                </a:solidFill>
                <a:latin typeface="Calibri"/>
              </a:rPr>
              <a:t>•  cromagrama CQT + perfiles Krumhansl-Schmuckler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50" b="1">
                <a:solidFill>
                  <a:srgbClr val="1F3864"/>
                </a:solidFill>
                <a:latin typeface="Calibri"/>
              </a:rPr>
              <a:t>•  Datos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50" b="0">
                <a:solidFill>
                  <a:srgbClr val="444444"/>
                </a:solidFill>
                <a:latin typeface="Calibri"/>
              </a:rPr>
              <a:t>•  progresiones I-IV-V-I / i-iv-V-i sintéticas
    1920 train / 480 val / 480 test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96000"/>
          <a:lstStyle/>
          <a:p>
            <a:pPr algn="l"/>
            <a:r>
              <a:rPr sz="2900" b="1">
                <a:solidFill>
                  <a:srgbClr val="FFFFFF"/>
                </a:solidFill>
                <a:latin typeface="Calibri"/>
              </a:rPr>
              <a:t>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6000" y="990000"/>
            <a:ext cx="11401200" cy="39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2E5C9A"/>
                </a:solidFill>
                <a:latin typeface="Calibri"/>
              </a:rPr>
              <a:t>Test sintético, 480 ejemplos, 24 clases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57200" y="6354001"/>
            <a:ext cx="648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444444"/>
                </a:solidFill>
                <a:latin typeface="Calibri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0000" y="1944000"/>
            <a:ext cx="3420000" cy="2160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5999"/>
          <a:lstStyle/>
          <a:p>
            <a:pPr algn="ctr"/>
            <a:r>
              <a:rPr sz="1500">
                <a:solidFill>
                  <a:srgbClr val="444444"/>
                </a:solidFill>
                <a:latin typeface="Calibri"/>
              </a:rPr>
              <a:t>ACCURACY</a:t>
            </a:r>
          </a:p>
          <a:p>
            <a:pPr algn="ctr"/>
            <a:r>
              <a:rPr sz="4000" b="1">
                <a:solidFill>
                  <a:srgbClr val="1E7A46"/>
                </a:solidFill>
                <a:latin typeface="Calibri"/>
              </a:rPr>
              <a:t>100 %</a:t>
            </a:r>
          </a:p>
          <a:p>
            <a:pPr algn="ctr"/>
            <a:r>
              <a:rPr sz="1250">
                <a:solidFill>
                  <a:srgbClr val="444444"/>
                </a:solidFill>
                <a:latin typeface="Calibri"/>
              </a:rPr>
              <a:t>480 / 480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3999" y="1944000"/>
            <a:ext cx="3420000" cy="2160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5999"/>
          <a:lstStyle/>
          <a:p>
            <a:pPr algn="ctr"/>
            <a:r>
              <a:rPr sz="1500">
                <a:solidFill>
                  <a:srgbClr val="444444"/>
                </a:solidFill>
                <a:latin typeface="Calibri"/>
              </a:rPr>
              <a:t>SCORE MIREX</a:t>
            </a:r>
          </a:p>
          <a:p>
            <a:pPr algn="ctr"/>
            <a:r>
              <a:rPr sz="4000" b="1">
                <a:solidFill>
                  <a:srgbClr val="1E7A46"/>
                </a:solidFill>
                <a:latin typeface="Calibri"/>
              </a:rPr>
              <a:t>1,000</a:t>
            </a:r>
          </a:p>
          <a:p>
            <a:pPr algn="ctr"/>
            <a:r>
              <a:rPr sz="1250">
                <a:solidFill>
                  <a:srgbClr val="444444"/>
                </a:solidFill>
                <a:latin typeface="Calibri"/>
              </a:rPr>
              <a:t>sin un solo error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4464000"/>
            <a:ext cx="10033200" cy="10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100" b="0">
                <a:solidFill>
                  <a:srgbClr val="1F3864"/>
                </a:solidFill>
                <a:latin typeface="Calibri"/>
              </a:rPr>
              <a:t>Matriz de confusión 24×24 perfectamente diagonal.</a:t>
            </a:r>
          </a:p>
          <a:p>
            <a:pPr algn="ctr">
              <a:lnSpc>
                <a:spcPct val="130000"/>
              </a:lnSpc>
            </a:pPr>
            <a:r>
              <a:rPr sz="2100" b="0">
                <a:solidFill>
                  <a:srgbClr val="1F3864"/>
                </a:solidFill>
                <a:latin typeface="Calibri"/>
              </a:rPr>
              <a:t>Convergencia a 99,6 % de validación en la PRIMERA época.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" y="5688000"/>
            <a:ext cx="10033200" cy="7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>
                <a:solidFill>
                  <a:srgbClr val="C0392B"/>
                </a:solidFill>
                <a:latin typeface="Calibri"/>
              </a:rPr>
              <a:t>¿Terminamos? 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96000"/>
          <a:lstStyle/>
          <a:p>
            <a:pPr algn="l"/>
            <a:r>
              <a:rPr sz="2900" b="1">
                <a:solidFill>
                  <a:srgbClr val="FFFFFF"/>
                </a:solidFill>
                <a:latin typeface="Calibri"/>
              </a:rPr>
              <a:t>El problema del 100 %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6000" y="990000"/>
            <a:ext cx="11401200" cy="39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2E5C9A"/>
                </a:solidFill>
                <a:latin typeface="Calibri"/>
              </a:rPr>
              <a:t>Para eso servía la línea de base que pidió la cátedra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57200" y="6354001"/>
            <a:ext cx="648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444444"/>
                </a:solidFill>
                <a:latin typeface="Calibri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980000" y="1728000"/>
          <a:ext cx="828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0000"/>
                <a:gridCol w="1620000"/>
                <a:gridCol w="1620000"/>
              </a:tblGrid>
              <a:tr h="4800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 anchor="ctr" marL="90000" marT="36000" marB="36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anchor="ctr" marL="90000" marT="36000" marB="36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MIREX</a:t>
                      </a:r>
                    </a:p>
                  </a:txBody>
                  <a:tcPr anchor="ctr" marL="90000" marT="36000" marB="36000">
                    <a:solidFill>
                      <a:srgbClr val="1F3864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444444"/>
                          </a:solidFill>
                          <a:latin typeface="Calibri"/>
                        </a:rPr>
                        <a:t>CNN 1D (80.968 parámetros, 12 épocas)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E7A46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E7A46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444444"/>
                          </a:solidFill>
                          <a:latin typeface="Calibri"/>
                        </a:rPr>
                        <a:t>Cromagrama + Krumhansl-Schmuckler (0 parámetros)</a:t>
                      </a:r>
                    </a:p>
                  </a:txBody>
                  <a:tcPr anchor="ctr" marL="90000" marT="36000" marB="36000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C0392B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anchor="ctr" marL="90000" marT="36000" marB="36000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C0392B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anchor="ctr" marL="90000" marT="36000" marB="36000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00000" y="3600000"/>
            <a:ext cx="10393200" cy="86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400" b="1">
                <a:solidFill>
                  <a:srgbClr val="C0392B"/>
                </a:solidFill>
                <a:latin typeface="Calibri"/>
              </a:rPr>
              <a:t>Un método de los años 80, sin parámetros entrenables, empata con la 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0000" y="4716000"/>
            <a:ext cx="90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1">
                <a:solidFill>
                  <a:srgbClr val="1F3864"/>
                </a:solidFill>
                <a:latin typeface="Calibri"/>
              </a:rPr>
              <a:t>•  El benchmark sintético está saturado: no discrimina entre métodos.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1">
                <a:solidFill>
                  <a:srgbClr val="1F3864"/>
                </a:solidFill>
                <a:latin typeface="Calibri"/>
              </a:rPr>
              <a:t>•  No hay evidencia de que la red haya aportado valor.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444444"/>
                </a:solidFill>
                <a:latin typeface="Calibri"/>
              </a:rPr>
              <a:t>•  Si el test no ordena métodos, hay que buscar una evaluación que sí lo haga.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96000"/>
          <a:lstStyle/>
          <a:p>
            <a:pPr algn="l"/>
            <a:r>
              <a:rPr sz="2900" b="1">
                <a:solidFill>
                  <a:srgbClr val="FFFFFF"/>
                </a:solidFill>
                <a:latin typeface="Calibri"/>
              </a:rPr>
              <a:t>Evaluación fuera de distribución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6000" y="990000"/>
            <a:ext cx="11401200" cy="39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2E5C9A"/>
                </a:solidFill>
                <a:latin typeface="Calibri"/>
              </a:rPr>
              <a:t>11 escenarios · se perturba una dimensión por vez · la etiqueta no cambia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57200" y="6354001"/>
            <a:ext cx="648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444444"/>
                </a:solidFill>
                <a:latin typeface="Calibri"/>
              </a:rPr>
              <a:t>7</a:t>
            </a:r>
          </a:p>
        </p:txBody>
      </p:sp>
      <p:pic>
        <p:nvPicPr>
          <p:cNvPr id="5" name="Picture 4" descr="robuste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2236" y="1404000"/>
            <a:ext cx="8168727" cy="374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0000" y="5364000"/>
            <a:ext cx="10753200" cy="10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0">
                <a:solidFill>
                  <a:srgbClr val="1F3864"/>
                </a:solidFill>
                <a:latin typeface="Calibri"/>
              </a:rPr>
              <a:t>La CNN gana donde importa el contexto (progresión nueva: 92,5 % vs 50 %)…</a:t>
            </a:r>
          </a:p>
          <a:p>
            <a:pPr algn="ctr">
              <a:lnSpc>
                <a:spcPct val="130000"/>
              </a:lnSpc>
            </a:pPr>
            <a:r>
              <a:rPr sz="1700" b="0">
                <a:solidFill>
                  <a:srgbClr val="1F3864"/>
                </a:solidFill>
                <a:latin typeface="Calibri"/>
              </a:rPr>
              <a:t>…y colapsa a 0,042 — el nivel del azar — ante un cambio de octava, donde la baseline queda en 1,000.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96000"/>
          <a:lstStyle/>
          <a:p>
            <a:pPr algn="l"/>
            <a:r>
              <a:rPr sz="2900" b="1">
                <a:solidFill>
                  <a:srgbClr val="FFFFFF"/>
                </a:solidFill>
                <a:latin typeface="Calibri"/>
              </a:rPr>
              <a:t>Los números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6000" y="990000"/>
            <a:ext cx="11401200" cy="39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2E5C9A"/>
                </a:solidFill>
                <a:latin typeface="Calibri"/>
              </a:rPr>
              <a:t>Accuracy en 24 clases · azar = 1/24 = 0,042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57200" y="6354001"/>
            <a:ext cx="648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444444"/>
                </a:solidFill>
                <a:latin typeface="Calibri"/>
              </a:rPr>
              <a:t>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20000" y="1655999"/>
          <a:ext cx="9000000" cy="3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0000"/>
                <a:gridCol w="1980000"/>
                <a:gridCol w="1980000"/>
              </a:tblGrid>
              <a:tr h="440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Escenario</a:t>
                      </a:r>
                    </a:p>
                  </a:txBody>
                  <a:tcPr anchor="ctr" marL="90000" marT="36000" marB="36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CNN 1D</a:t>
                      </a:r>
                    </a:p>
                  </a:txBody>
                  <a:tcPr anchor="ctr" marL="90000" marT="36000" marB="36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Baseline K-S</a:t>
                      </a:r>
                    </a:p>
                  </a:txBody>
                  <a:tcPr anchor="ctr" marL="90000" marT="36000" marB="36000">
                    <a:solidFill>
                      <a:srgbClr val="1F3864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444444"/>
                          </a:solidFill>
                          <a:latin typeface="Calibri"/>
                        </a:rPr>
                        <a:t>Test sintético (en distribución)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444444"/>
                          </a:solidFill>
                          <a:latin typeface="Calibri"/>
                        </a:rPr>
                        <a:t>Progresión nueva I-V-vi-IV</a:t>
                      </a:r>
                    </a:p>
                  </a:txBody>
                  <a:tcPr anchor="ctr" marL="90000" marT="36000" marB="36000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46"/>
                          </a:solidFill>
                          <a:latin typeface="Calibri"/>
                        </a:rPr>
                        <a:t>0,925</a:t>
                      </a:r>
                    </a:p>
                  </a:txBody>
                  <a:tcPr anchor="ctr" marL="90000" marT="36000" marB="36000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  <a:latin typeface="Calibri"/>
                        </a:rPr>
                        <a:t>0,500</a:t>
                      </a:r>
                    </a:p>
                  </a:txBody>
                  <a:tcPr anchor="ctr" marL="90000" marT="36000" marB="36000">
                    <a:solidFill>
                      <a:srgbClr val="F4F7FB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444444"/>
                          </a:solidFill>
                          <a:latin typeface="Calibri"/>
                        </a:rPr>
                        <a:t>Progresión nueva ii-V-I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46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  <a:latin typeface="Calibri"/>
                        </a:rPr>
                        <a:t>0,500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444444"/>
                          </a:solidFill>
                          <a:latin typeface="Calibri"/>
                        </a:rPr>
                        <a:t>Timbre brillante (6 armónicos)</a:t>
                      </a:r>
                    </a:p>
                  </a:txBody>
                  <a:tcPr anchor="ctr" marL="90000" marT="36000" marB="36000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  <a:latin typeface="Calibri"/>
                        </a:rPr>
                        <a:t>0,908</a:t>
                      </a:r>
                    </a:p>
                  </a:txBody>
                  <a:tcPr anchor="ctr" marL="90000" marT="36000" marB="36000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anchor="ctr" marL="90000" marT="36000" marB="36000">
                    <a:solidFill>
                      <a:srgbClr val="F4F7FB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444444"/>
                          </a:solidFill>
                          <a:latin typeface="Calibri"/>
                        </a:rPr>
                        <a:t>Ruido fuerte (SNR 0 dB)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  <a:latin typeface="Calibri"/>
                        </a:rPr>
                        <a:t>0,808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444444"/>
                          </a:solidFill>
                          <a:latin typeface="Calibri"/>
                        </a:rPr>
                        <a:t>Afinación 432 Hz</a:t>
                      </a:r>
                    </a:p>
                  </a:txBody>
                  <a:tcPr anchor="ctr" marL="90000" marT="36000" marB="36000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  <a:latin typeface="Calibri"/>
                        </a:rPr>
                        <a:t>0,917</a:t>
                      </a:r>
                    </a:p>
                  </a:txBody>
                  <a:tcPr anchor="ctr" marL="90000" marT="36000" marB="36000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  <a:latin typeface="Calibri"/>
                        </a:rPr>
                        <a:t>0,958</a:t>
                      </a:r>
                    </a:p>
                  </a:txBody>
                  <a:tcPr anchor="ctr" marL="90000" marT="36000" marB="36000">
                    <a:solidFill>
                      <a:srgbClr val="F4F7FB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C0392B"/>
                          </a:solidFill>
                          <a:latin typeface="Calibri"/>
                        </a:rPr>
                        <a:t>TRANSPOSICIÓN DE 1 OCTAVA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Calibri"/>
                        </a:rPr>
                        <a:t>0,042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46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anchor="ctr" marL="90000" marT="36000" marB="36000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444444"/>
                          </a:solidFill>
                          <a:latin typeface="Calibri"/>
                        </a:rPr>
                        <a:t>Audio real (5 temas conocidos)</a:t>
                      </a:r>
                    </a:p>
                  </a:txBody>
                  <a:tcPr anchor="ctr" marL="90000" marT="36000" marB="36000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  <a:latin typeface="Calibri"/>
                        </a:rPr>
                        <a:t>0,800</a:t>
                      </a:r>
                    </a:p>
                  </a:txBody>
                  <a:tcPr anchor="ctr" marL="90000" marT="36000" marB="36000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46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anchor="ctr" marL="90000" marT="36000" marB="36000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620000" y="5832000"/>
            <a:ext cx="900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600" b="0">
                <a:solidFill>
                  <a:srgbClr val="444444"/>
                </a:solidFill>
                <a:latin typeface="Calibri"/>
              </a:rPr>
              <a:t>Una canción en C mayor sigue en C mayor una octava más arriba. La etiqueta no cambió.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96000"/>
          <a:lstStyle/>
          <a:p>
            <a:pPr algn="l"/>
            <a:r>
              <a:rPr sz="2900" b="1">
                <a:solidFill>
                  <a:srgbClr val="FFFFFF"/>
                </a:solidFill>
                <a:latin typeface="Calibri"/>
              </a:rPr>
              <a:t>Diagnóstico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6000" y="990000"/>
            <a:ext cx="11401200" cy="39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2E5C9A"/>
                </a:solidFill>
                <a:latin typeface="Calibri"/>
              </a:rPr>
              <a:t>¿Qué sigue la red: la tonalidad o la frecuencia absoluta?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57200" y="6354001"/>
            <a:ext cx="648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444444"/>
                </a:solidFill>
                <a:latin typeface="Calibri"/>
              </a:rPr>
              <a:t>9</a:t>
            </a:r>
          </a:p>
        </p:txBody>
      </p:sp>
      <p:pic>
        <p:nvPicPr>
          <p:cNvPr id="5" name="Picture 4" descr="diagnostico_octa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600" y="1368000"/>
            <a:ext cx="7200000" cy="36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0000" y="5184000"/>
            <a:ext cx="10753200" cy="129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>
                <a:solidFill>
                  <a:srgbClr val="C0392B"/>
                </a:solidFill>
                <a:latin typeface="Calibri"/>
              </a:rPr>
              <a:t>Al desplazar el audio UN SEMITONO:</a:t>
            </a:r>
          </a:p>
          <a:p>
            <a:pPr algn="ctr">
              <a:lnSpc>
                <a:spcPct val="130000"/>
              </a:lnSpc>
            </a:pPr>
            <a:r>
              <a:rPr sz="2000" b="1">
                <a:solidFill>
                  <a:srgbClr val="C0392B"/>
                </a:solidFill>
                <a:latin typeface="Calibri"/>
              </a:rPr>
              <a:t>predice la etiqueta transpuesta el 91,7 %  ·  acierta la correcta el 0 %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96000"/>
          <a:lstStyle/>
          <a:p>
            <a:pPr algn="l"/>
            <a:r>
              <a:rPr sz="2900" b="1">
                <a:solidFill>
                  <a:srgbClr val="FFFFFF"/>
                </a:solidFill>
                <a:latin typeface="Calibri"/>
              </a:rPr>
              <a:t>La causa: shortcut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6000" y="990000"/>
            <a:ext cx="11401200" cy="39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2E5C9A"/>
                </a:solidFill>
                <a:latin typeface="Calibri"/>
              </a:rPr>
              <a:t>No fue la arquitectura. Fue el conjunto de datos.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57200" y="6354001"/>
            <a:ext cx="648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444444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1655999"/>
            <a:ext cx="1080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50" b="1">
                <a:solidFill>
                  <a:srgbClr val="1F3864"/>
                </a:solidFill>
                <a:latin typeface="Calibri"/>
              </a:rPr>
              <a:t>•  El generador ubicaba cada tonalidad SIEMPRE en la misma octava.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50" b="0">
                <a:solidFill>
                  <a:srgbClr val="444444"/>
                </a:solidFill>
                <a:latin typeface="Calibri"/>
              </a:rPr>
              <a:t>•  Dentro del dataset, "tonalidad" y "banda de frecuencias absolutas" eran predictores equivalentes.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50" b="1">
                <a:solidFill>
                  <a:srgbClr val="1F3864"/>
                </a:solidFill>
                <a:latin typeface="Calibri"/>
              </a:rPr>
              <a:t>•  Ante dos soluciones equivalentes, el gradiente tomó la más fácil: detectar altura absoluta.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50" b="0">
                <a:solidFill>
                  <a:srgbClr val="444444"/>
                </a:solidFill>
                <a:latin typeface="Calibri"/>
              </a:rPr>
              <a:t>•  Nunca necesitó construir relaciones intervalares, que es lo que define una tonalidad.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50" b="1">
                <a:solidFill>
                  <a:srgbClr val="1F3864"/>
                </a:solidFill>
                <a:latin typeface="Calibri"/>
              </a:rPr>
              <a:t>•  El test, generado con el mismo sesgo, no podía detectarlo.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50" b="0">
                <a:solidFill>
                  <a:srgbClr val="444444"/>
                </a:solidFill>
                <a:latin typeface="Calibri"/>
              </a:rPr>
              <a:t>•  Una CNN 1D sobre onda cruda es equivariante en tiempo, pero NO en frecuencia.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50" b="0">
                <a:solidFill>
                  <a:srgbClr val="444444"/>
                </a:solidFill>
                <a:latin typeface="Calibri"/>
              </a:rPr>
              <a:t>•  El cromagrama sí es invariante a la octava por construcción: su sesgo inductivo es el correcto.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256000"/>
            <a:ext cx="10393200" cy="86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>
                <a:solidFill>
                  <a:srgbClr val="C0392B"/>
                </a:solidFill>
                <a:latin typeface="Calibri"/>
              </a:rPr>
              <a:t>La red aprendió a detectar altura absoluta, no tonalidad.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96000"/>
          <a:lstStyle/>
          <a:p>
            <a:pPr algn="l"/>
            <a:r>
              <a:rPr sz="2900" b="1">
                <a:solidFill>
                  <a:srgbClr val="FFFFFF"/>
                </a:solidFill>
                <a:latin typeface="Calibri"/>
              </a:rP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6000" y="990000"/>
            <a:ext cx="11401200" cy="39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2E5C9A"/>
                </a:solidFill>
                <a:latin typeface="Calibri"/>
              </a:rPr>
              <a:t>Qué me llevo de este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57200" y="6354001"/>
            <a:ext cx="648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444444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1620000"/>
            <a:ext cx="10800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700" b="1">
                <a:solidFill>
                  <a:srgbClr val="1F3864"/>
                </a:solidFill>
                <a:latin typeface="Calibri"/>
              </a:rPr>
              <a:t>•  Con este diseño, la red NO superó a la línea de base. Esa es la respuesta honesta.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700" b="0">
                <a:solidFill>
                  <a:srgbClr val="444444"/>
                </a:solidFill>
                <a:latin typeface="Calibri"/>
              </a:rPr>
              <a:t>•  Una métrica de test perfecta no es evidencia de aprendizaje: fue el síntoma del problema.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700" b="1">
                <a:solidFill>
                  <a:srgbClr val="1F3864"/>
                </a:solidFill>
                <a:latin typeface="Calibri"/>
              </a:rPr>
              <a:t>•  La línea de base no es un trámite del informe: fue el instrumento de diagnóstico.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700" b="0">
                <a:solidFill>
                  <a:srgbClr val="444444"/>
                </a:solidFill>
                <a:latin typeface="Calibri"/>
              </a:rPr>
              <a:t>•  Sin ese empate en 100 %, el trabajo habría reportado un éxito inexistente.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700" b="1">
                <a:solidFill>
                  <a:srgbClr val="1F3864"/>
                </a:solidFill>
                <a:latin typeface="Calibri"/>
              </a:rPr>
              <a:t>•  Un test generado por el mismo generador que el train no mide generalización.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700" b="0">
                <a:solidFill>
                  <a:srgbClr val="444444"/>
                </a:solidFill>
                <a:latin typeface="Calibri"/>
              </a:rPr>
              <a:t>•  Mide consistencia del generador. Detectar atajos exige evaluar fuera de distribución.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700" b="1">
                <a:solidFill>
                  <a:srgbClr val="1F3864"/>
                </a:solidFill>
                <a:latin typeface="Calibri"/>
              </a:rPr>
              <a:t>•  El sesgo inductivo era analizable antes de entrenar.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700" b="0">
                <a:solidFill>
                  <a:srgbClr val="444444"/>
                </a:solidFill>
                <a:latin typeface="Calibri"/>
              </a:rPr>
              <a:t>•  El fallo estaba predicho por la arquitectura: faltaba invariancia a transposición.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96000"/>
          <a:lstStyle/>
          <a:p>
            <a:pPr algn="l"/>
            <a:r>
              <a:rPr sz="2900" b="1">
                <a:solidFill>
                  <a:srgbClr val="FFFFFF"/>
                </a:solidFill>
                <a:latin typeface="Calibri"/>
              </a:rPr>
              <a:t>Cómo se arregla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6000" y="990000"/>
            <a:ext cx="11401200" cy="39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2E5C9A"/>
                </a:solidFill>
                <a:latin typeface="Calibri"/>
              </a:rPr>
              <a:t>Las correcciones salen directamente del diagnóstico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57200" y="6354001"/>
            <a:ext cx="648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444444"/>
                </a:solidFill>
                <a:latin typeface="Calibri"/>
              </a:rP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00" y="1728000"/>
            <a:ext cx="5472000" cy="1872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5999"/>
          <a:lstStyle/>
          <a:p>
            <a:pPr algn="ctr"/>
            <a:r>
              <a:rPr sz="1500">
                <a:solidFill>
                  <a:srgbClr val="444444"/>
                </a:solidFill>
                <a:latin typeface="Calibri"/>
              </a:rPr>
              <a:t>1 · Aumentación por pitch-shift</a:t>
            </a:r>
          </a:p>
          <a:p>
            <a:pPr algn="ctr"/>
            <a:r>
              <a:rPr sz="4000" b="1">
                <a:solidFill>
                  <a:srgbClr val="2E5C9A"/>
                </a:solidFill>
                <a:latin typeface="Calibri"/>
              </a:rPr>
              <a:t>Impacto alto</a:t>
            </a:r>
          </a:p>
          <a:p>
            <a:pPr algn="ctr"/>
            <a:r>
              <a:rPr sz="1250">
                <a:solidFill>
                  <a:srgbClr val="444444"/>
                </a:solidFill>
                <a:latin typeface="Calibri"/>
              </a:rPr>
              <a:t>Transponer actualizando la etiqueta rompe la correlación espuria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6000" y="1728000"/>
            <a:ext cx="5472000" cy="1872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5999"/>
          <a:lstStyle/>
          <a:p>
            <a:pPr algn="ctr"/>
            <a:r>
              <a:rPr sz="1500">
                <a:solidFill>
                  <a:srgbClr val="444444"/>
                </a:solidFill>
                <a:latin typeface="Calibri"/>
              </a:rPr>
              <a:t>2 · Randomizar la octava</a:t>
            </a:r>
          </a:p>
          <a:p>
            <a:pPr algn="ctr"/>
            <a:r>
              <a:rPr sz="4000" b="1">
                <a:solidFill>
                  <a:srgbClr val="1E7A46"/>
                </a:solidFill>
                <a:latin typeface="Calibri"/>
              </a:rPr>
              <a:t>2 líneas</a:t>
            </a:r>
          </a:p>
          <a:p>
            <a:pPr algn="ctr"/>
            <a:r>
              <a:rPr sz="1250">
                <a:solidFill>
                  <a:srgbClr val="444444"/>
                </a:solidFill>
                <a:latin typeface="Calibri"/>
              </a:rPr>
              <a:t>Elimina el sesgo en el origen, dentro del generador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00" y="3888000"/>
            <a:ext cx="5472000" cy="1872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5999"/>
          <a:lstStyle/>
          <a:p>
            <a:pPr algn="ctr"/>
            <a:r>
              <a:rPr sz="1500">
                <a:solidFill>
                  <a:srgbClr val="444444"/>
                </a:solidFill>
                <a:latin typeface="Calibri"/>
              </a:rPr>
              <a:t>3 · CQT / log-mel + CNN 2D</a:t>
            </a:r>
          </a:p>
          <a:p>
            <a:pPr algn="ctr"/>
            <a:r>
              <a:rPr sz="4000" b="1">
                <a:solidFill>
                  <a:srgbClr val="2E5C9A"/>
                </a:solidFill>
                <a:latin typeface="Calibri"/>
              </a:rPr>
              <a:t>Por arquitectura</a:t>
            </a:r>
          </a:p>
          <a:p>
            <a:pPr algn="ctr"/>
            <a:r>
              <a:rPr sz="1250">
                <a:solidFill>
                  <a:srgbClr val="444444"/>
                </a:solidFill>
                <a:latin typeface="Calibri"/>
              </a:rPr>
              <a:t>Sobre CQT la transposición es traslación: la conv2D ya es equivariante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6000" y="3888000"/>
            <a:ext cx="5472000" cy="1872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5999"/>
          <a:lstStyle/>
          <a:p>
            <a:pPr algn="ctr"/>
            <a:r>
              <a:rPr sz="1500">
                <a:solidFill>
                  <a:srgbClr val="444444"/>
                </a:solidFill>
                <a:latin typeface="Calibri"/>
              </a:rPr>
              <a:t>4 · GiantSteps completo</a:t>
            </a:r>
          </a:p>
          <a:p>
            <a:pPr algn="ctr"/>
            <a:r>
              <a:rPr sz="4000" b="1">
                <a:solidFill>
                  <a:srgbClr val="2E5C9A"/>
                </a:solidFill>
                <a:latin typeface="Calibri"/>
              </a:rPr>
              <a:t>604 temas</a:t>
            </a:r>
          </a:p>
          <a:p>
            <a:pPr algn="ctr"/>
            <a:r>
              <a:rPr sz="1250">
                <a:solidFill>
                  <a:srgbClr val="444444"/>
                </a:solidFill>
                <a:latin typeface="Calibri"/>
              </a:rPr>
              <a:t>Medición sólida sobre música real anotada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57200" y="6354001"/>
            <a:ext cx="648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444444"/>
                </a:solidFill>
                <a:latin typeface="Calibri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0000" y="2015999"/>
            <a:ext cx="10393200" cy="10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4600" b="1">
                <a:solidFill>
                  <a:srgbClr val="FFFFFF"/>
                </a:solidFill>
                <a:latin typeface="Calibri"/>
              </a:rPr>
              <a:t>Master of the Harmonica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311999"/>
            <a:ext cx="10033200" cy="1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0">
                <a:solidFill>
                  <a:srgbClr val="C9D9F0"/>
                </a:solidFill>
                <a:latin typeface="Calibri"/>
              </a:rPr>
              <a:t>El sistema funciona de punta a punta.</a:t>
            </a:r>
          </a:p>
          <a:p>
            <a:pPr algn="ctr">
              <a:lnSpc>
                <a:spcPct val="135000"/>
              </a:lnSpc>
            </a:pPr>
            <a:r>
              <a:rPr sz="2000" b="0">
                <a:solidFill>
                  <a:srgbClr val="C9D9F0"/>
                </a:solidFill>
                <a:latin typeface="Calibri"/>
              </a:rPr>
              <a:t>El aporte del trabajo no es el 100 %: es haber mostrado por qué ese 100 % no alcanzaba.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0000" y="5112000"/>
            <a:ext cx="100332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700" b="0">
                <a:solidFill>
                  <a:srgbClr val="FFFFFF"/>
                </a:solidFill>
                <a:latin typeface="Calibri"/>
              </a:rPr>
              <a:t>github.com/vmdanguise/master-of-the-harmonica</a:t>
            </a:r>
          </a:p>
          <a:p>
            <a:pPr algn="ctr">
              <a:lnSpc>
                <a:spcPct val="140000"/>
              </a:lnSpc>
            </a:pPr>
            <a:r>
              <a:rPr sz="17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1700" b="0">
                <a:solidFill>
                  <a:srgbClr val="FFFFFF"/>
                </a:solidFill>
                <a:latin typeface="Calibri"/>
              </a:rPr>
              <a:t>Gracias.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